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3" autoAdjust="0"/>
    <p:restoredTop sz="94660"/>
  </p:normalViewPr>
  <p:slideViewPr>
    <p:cSldViewPr snapToGrid="0">
      <p:cViewPr varScale="1">
        <p:scale>
          <a:sx n="114" d="100"/>
          <a:sy n="114" d="100"/>
        </p:scale>
        <p:origin x="33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2026-09-26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2026-09-26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434129" y="62559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FROM DATA TO THESIS</a:t>
            </a:r>
          </a:p>
        </p:txBody>
      </p:sp>
      <p:sp>
        <p:nvSpPr>
          <p:cNvPr id="7" name="Rectangle 6">
            <a:extLst>
              <a:ext uri="{FF2B5EF4-FFF2-40B4-BE49-F238E27FC236}">
                <a16:creationId xmlns:a16="http://schemas.microsoft.com/office/drawing/2014/main" id="{A820E9CF-D657-21A5-F2D8-DD96BCDC40D3}"/>
              </a:ext>
            </a:extLst>
          </p:cNvPr>
          <p:cNvSpPr/>
          <p:nvPr/>
        </p:nvSpPr>
        <p:spPr>
          <a:xfrm>
            <a:off x="1252057" y="1711354"/>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Using R</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Modern Data Analysis in the Age of AI</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pic>
        <p:nvPicPr>
          <p:cNvPr id="17" name="Picture 16">
            <a:extLst>
              <a:ext uri="{FF2B5EF4-FFF2-40B4-BE49-F238E27FC236}">
                <a16:creationId xmlns:a16="http://schemas.microsoft.com/office/drawing/2014/main" id="{A76AEF4D-7D39-82F0-67DD-07495FC2D166}"/>
              </a:ext>
            </a:extLst>
          </p:cNvPr>
          <p:cNvPicPr>
            <a:picLocks noChangeAspect="1"/>
          </p:cNvPicPr>
          <p:nvPr/>
        </p:nvPicPr>
        <p:blipFill>
          <a:blip r:embed="rId4"/>
          <a:stretch>
            <a:fillRect/>
          </a:stretch>
        </p:blipFill>
        <p:spPr>
          <a:xfrm>
            <a:off x="1824863" y="2768239"/>
            <a:ext cx="3208274" cy="4008913"/>
          </a:xfrm>
          <a:prstGeom prst="rect">
            <a:avLst/>
          </a:prstGeom>
        </p:spPr>
      </p:pic>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8" y="321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From Data To Thesis Using R</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4" y="828658"/>
            <a:ext cx="6375629" cy="6370975"/>
          </a:xfrm>
          <a:prstGeom prst="rect">
            <a:avLst/>
          </a:prstGeom>
          <a:noFill/>
        </p:spPr>
        <p:txBody>
          <a:bodyPr wrap="square">
            <a:spAutoFit/>
          </a:bodyPr>
          <a:lstStyle/>
          <a:p>
            <a:pPr marL="0" marR="0" indent="0" algn="l">
              <a:buNone/>
            </a:pPr>
            <a:r>
              <a:rPr lang="en-US" sz="1200" b="1" i="0" dirty="0">
                <a:solidFill>
                  <a:schemeClr val="bg1"/>
                </a:solidFill>
                <a:effectLst/>
                <a:latin typeface="+mn-lt"/>
              </a:rPr>
              <a:t>Turn messy data into a defended, publication-ready thesis.</a:t>
            </a:r>
            <a:endParaRPr lang="en-US" sz="1200" b="0" i="0" dirty="0">
              <a:solidFill>
                <a:schemeClr val="bg1"/>
              </a:solidFill>
              <a:effectLst/>
              <a:latin typeface="+mn-lt"/>
            </a:endParaRPr>
          </a:p>
          <a:p>
            <a:pPr marL="0" marR="0" indent="0" algn="l">
              <a:buNone/>
            </a:pPr>
            <a:r>
              <a:rPr lang="en-US" sz="1200" b="0" i="0" dirty="0">
                <a:solidFill>
                  <a:schemeClr val="bg1"/>
                </a:solidFill>
                <a:effectLst/>
                <a:latin typeface="+mn-lt"/>
              </a:rPr>
              <a:t>For many postgraduate and academic researchers, collecting data is only the beginning of the real challenge. The hardest hurdle is turning spreadsheets, surveys, and lab observations into robust statistical models and defendable written arguments. Commercial point-and-click tools leave your analysis opaque, while standard programming textbooks bury you in abstract computer science theory.</a:t>
            </a:r>
          </a:p>
          <a:p>
            <a:pPr marL="0" marR="0" indent="0" algn="l">
              <a:buNone/>
            </a:pPr>
            <a:r>
              <a:rPr lang="en-US" sz="1200" b="1" i="1" dirty="0">
                <a:solidFill>
                  <a:schemeClr val="bg1"/>
                </a:solidFill>
                <a:effectLst/>
                <a:latin typeface="+mn-lt"/>
              </a:rPr>
              <a:t>From Data to Thesis</a:t>
            </a:r>
            <a:r>
              <a:rPr lang="en-US" sz="1200" b="0" i="0" dirty="0">
                <a:solidFill>
                  <a:schemeClr val="bg1"/>
                </a:solidFill>
                <a:effectLst/>
                <a:latin typeface="+mn-lt"/>
              </a:rPr>
              <a:t> bridges that divide. Written specifically for graduate students, doctoral researchers, and academic professionals, this book provides a complete, modern roadmap for empirical research using </a:t>
            </a:r>
            <a:r>
              <a:rPr lang="en-US" sz="1200" b="1" i="0" dirty="0">
                <a:solidFill>
                  <a:schemeClr val="bg1"/>
                </a:solidFill>
                <a:effectLst/>
                <a:latin typeface="+mn-lt"/>
              </a:rPr>
              <a:t>R</a:t>
            </a:r>
            <a:r>
              <a:rPr lang="en-US" sz="1200" b="0" i="0" dirty="0">
                <a:solidFill>
                  <a:schemeClr val="bg1"/>
                </a:solidFill>
                <a:effectLst/>
                <a:latin typeface="+mn-lt"/>
              </a:rPr>
              <a:t>. Rather than abstract mathematics, every concept is taught through a single, realistic running case study following 600 students across four semesters.</a:t>
            </a:r>
          </a:p>
          <a:p>
            <a:pPr lvl="1"/>
            <a:r>
              <a:rPr lang="en-US" sz="1200" b="1" i="0" dirty="0">
                <a:solidFill>
                  <a:schemeClr val="bg1"/>
                </a:solidFill>
                <a:effectLst/>
                <a:latin typeface="+mn-lt"/>
              </a:rPr>
              <a:t>Every chapter guides you through five clear steps:</a:t>
            </a:r>
            <a:endParaRPr lang="en-US" sz="1200" b="0" i="0" dirty="0">
              <a:solidFill>
                <a:schemeClr val="bg1"/>
              </a:solidFill>
              <a:effectLst/>
              <a:latin typeface="+mn-lt"/>
            </a:endParaRPr>
          </a:p>
          <a:p>
            <a:pPr marL="800100" lvl="1" indent="-342900">
              <a:buFont typeface="+mj-lt"/>
              <a:buAutoNum type="arabicPeriod"/>
            </a:pPr>
            <a:r>
              <a:rPr lang="en-US" sz="1200" b="1" i="0" dirty="0">
                <a:solidFill>
                  <a:schemeClr val="bg1"/>
                </a:solidFill>
                <a:effectLst/>
                <a:latin typeface="+mn-lt"/>
              </a:rPr>
              <a:t>A Concrete Research Question</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A Minimal Working Example</a:t>
            </a:r>
            <a:r>
              <a:rPr lang="en-US" sz="1200" b="0" i="0" dirty="0">
                <a:solidFill>
                  <a:schemeClr val="bg1"/>
                </a:solidFill>
                <a:effectLst/>
                <a:latin typeface="+mn-lt"/>
              </a:rPr>
              <a:t> .</a:t>
            </a:r>
          </a:p>
          <a:p>
            <a:pPr marL="800100" lvl="1" indent="-342900">
              <a:buFont typeface="+mj-lt"/>
              <a:buAutoNum type="arabicPeriod"/>
            </a:pPr>
            <a:r>
              <a:rPr lang="en-US" sz="1200" b="1" i="0" dirty="0">
                <a:solidFill>
                  <a:schemeClr val="bg1"/>
                </a:solidFill>
                <a:effectLst/>
                <a:latin typeface="+mn-lt"/>
              </a:rPr>
              <a:t>The Case-Study Analysis</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In Your Field</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Thesis Reporting &amp; Interpretation</a:t>
            </a:r>
            <a:r>
              <a:rPr lang="en-US" sz="1200" b="0" i="0" dirty="0">
                <a:solidFill>
                  <a:schemeClr val="bg1"/>
                </a:solidFill>
                <a:effectLst/>
                <a:latin typeface="+mn-lt"/>
              </a:rPr>
              <a:t> .</a:t>
            </a:r>
          </a:p>
          <a:p>
            <a:pPr marL="0" marR="0" indent="0" algn="l">
              <a:buNone/>
            </a:pPr>
            <a:r>
              <a:rPr lang="en-US" sz="1200" b="0" i="0" dirty="0">
                <a:solidFill>
                  <a:schemeClr val="bg1"/>
                </a:solidFill>
                <a:effectLst/>
                <a:latin typeface="+mn-lt"/>
              </a:rPr>
              <a:t>From exploratory data analysis and hypothesis testing to mixed-effects models, machine learning, time-series forecasting, and ethical AI assistance, this book gives you the tools, code, and confidence to defend your research with scientific rigor.</a:t>
            </a:r>
          </a:p>
          <a:p>
            <a:pPr>
              <a:buNone/>
            </a:pPr>
            <a:br>
              <a:rPr lang="en-US" sz="1200" dirty="0">
                <a:solidFill>
                  <a:schemeClr val="bg1"/>
                </a:solidFill>
              </a:rPr>
            </a:br>
            <a:r>
              <a:rPr lang="en-US" sz="1200" b="1" i="0" dirty="0">
                <a:solidFill>
                  <a:schemeClr val="bg1"/>
                </a:solidFill>
                <a:effectLst/>
                <a:latin typeface="+mn-lt"/>
              </a:rPr>
              <a:t>Inside you will discover:</a:t>
            </a:r>
            <a:endParaRPr lang="en-US" sz="1200" b="0" i="0" dirty="0">
              <a:solidFill>
                <a:schemeClr val="bg1"/>
              </a:solidFill>
              <a:effectLst/>
              <a:latin typeface="+mn-lt"/>
            </a:endParaRPr>
          </a:p>
          <a:p>
            <a:pPr marL="342900" lvl="0" indent="-342900" algn="l">
              <a:buFont typeface="Wingdings" panose="05000000000000000000" pitchFamily="2" charset="2"/>
              <a:buChar char="v"/>
            </a:pPr>
            <a:r>
              <a:rPr lang="en-US" sz="1200" b="0" i="0" dirty="0">
                <a:solidFill>
                  <a:schemeClr val="bg1"/>
                </a:solidFill>
                <a:effectLst/>
                <a:latin typeface="+mn-lt"/>
              </a:rPr>
              <a:t>How to clean, reshape, and visualize complex data using modern </a:t>
            </a:r>
            <a:r>
              <a:rPr lang="en-US" sz="1200" b="1" i="0" dirty="0" err="1">
                <a:solidFill>
                  <a:schemeClr val="bg1"/>
                </a:solidFill>
                <a:effectLst/>
                <a:latin typeface="+mn-lt"/>
              </a:rPr>
              <a:t>tidyverse</a:t>
            </a:r>
            <a:r>
              <a:rPr lang="en-US" sz="1200" b="0" i="0" dirty="0">
                <a:solidFill>
                  <a:schemeClr val="bg1"/>
                </a:solidFill>
                <a:effectLst/>
                <a:latin typeface="+mn-lt"/>
              </a:rPr>
              <a:t> workflows.</a:t>
            </a:r>
          </a:p>
          <a:p>
            <a:pPr marL="342900" lvl="0" indent="-342900" algn="l">
              <a:buFont typeface="Wingdings" panose="05000000000000000000" pitchFamily="2" charset="2"/>
              <a:buChar char="v"/>
            </a:pPr>
            <a:r>
              <a:rPr lang="en-US" sz="1200" b="0" i="0" dirty="0">
                <a:solidFill>
                  <a:schemeClr val="bg1"/>
                </a:solidFill>
                <a:effectLst/>
                <a:latin typeface="+mn-lt"/>
              </a:rPr>
              <a:t>How to choose the right statistical test—and how to diagnose and fix common assumption violations.</a:t>
            </a:r>
          </a:p>
          <a:p>
            <a:pPr marL="342900" lvl="0" indent="-342900" algn="l">
              <a:buFont typeface="Wingdings" panose="05000000000000000000" pitchFamily="2" charset="2"/>
              <a:buChar char="v"/>
            </a:pPr>
            <a:r>
              <a:rPr lang="en-US" sz="1200" b="0" i="0" dirty="0">
                <a:solidFill>
                  <a:schemeClr val="bg1"/>
                </a:solidFill>
                <a:effectLst/>
                <a:latin typeface="+mn-lt"/>
              </a:rPr>
              <a:t>Practical machine learning and predictive modeling without the computational overwhelm.</a:t>
            </a:r>
          </a:p>
          <a:p>
            <a:pPr marL="342900" lvl="0" indent="-342900" algn="l">
              <a:buFont typeface="Wingdings" panose="05000000000000000000" pitchFamily="2" charset="2"/>
              <a:buChar char="v"/>
            </a:pPr>
            <a:r>
              <a:rPr lang="en-US" sz="1200" b="0" i="0" dirty="0">
                <a:solidFill>
                  <a:schemeClr val="bg1"/>
                </a:solidFill>
                <a:effectLst/>
                <a:latin typeface="+mn-lt"/>
              </a:rPr>
              <a:t>Reproducible research workflows using </a:t>
            </a:r>
            <a:r>
              <a:rPr lang="en-US" sz="1200" b="1" i="0" dirty="0">
                <a:solidFill>
                  <a:schemeClr val="bg1"/>
                </a:solidFill>
                <a:effectLst/>
                <a:latin typeface="+mn-lt"/>
              </a:rPr>
              <a:t>Quarto</a:t>
            </a:r>
            <a:r>
              <a:rPr lang="en-US" sz="1200" b="0" i="0" dirty="0">
                <a:solidFill>
                  <a:schemeClr val="bg1"/>
                </a:solidFill>
                <a:effectLst/>
                <a:latin typeface="+mn-lt"/>
              </a:rPr>
              <a:t> that generate thesis-ready tables and figures.</a:t>
            </a:r>
          </a:p>
          <a:p>
            <a:pPr marL="342900" lvl="0" indent="-342900" algn="l">
              <a:buFont typeface="Wingdings" panose="05000000000000000000" pitchFamily="2" charset="2"/>
              <a:buChar char="v"/>
            </a:pPr>
            <a:r>
              <a:rPr lang="en-US" sz="1200" b="0" i="0" dirty="0">
                <a:solidFill>
                  <a:schemeClr val="bg1"/>
                </a:solidFill>
                <a:effectLst/>
                <a:latin typeface="+mn-lt"/>
              </a:rPr>
              <a:t>Interactive browser playgrounds to practice every method without installing a single package.</a:t>
            </a:r>
          </a:p>
          <a:p>
            <a:pPr marL="0" marR="0" indent="0" algn="l">
              <a:buNone/>
            </a:pPr>
            <a:r>
              <a:rPr lang="en-US" sz="1200" b="0" i="1" dirty="0">
                <a:solidFill>
                  <a:schemeClr val="bg1"/>
                </a:solidFill>
                <a:effectLst/>
                <a:latin typeface="+mn-lt"/>
              </a:rPr>
              <a:t>Whether you are writing your first Master’s dissertation, completing your doctoral defense, or preparing an empirical journal article, this book is your desk companion from raw data to submitted thesis.</a:t>
            </a:r>
            <a:endParaRPr lang="en-US" sz="7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TotalTime>
  <Words>344</Words>
  <Application>Microsoft Office PowerPoint</Application>
  <PresentationFormat>On-screen Show (4:3)</PresentationFormat>
  <Paragraphs>25</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Yu Mincho Light</vt:lpstr>
      <vt:lpstr>Aptos</vt:lpstr>
      <vt:lpstr>Aptos Display</vt:lpstr>
      <vt:lpstr>Arial</vt:lpstr>
      <vt:lpstr>Bookman Old Style</vt:lpstr>
      <vt:lpstr>Mongolian Baiti</vt:lpstr>
      <vt:lpstr>Segoe WPC</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5</cp:revision>
  <dcterms:created xsi:type="dcterms:W3CDTF">2026-09-26T18:19:49Z</dcterms:created>
  <dcterms:modified xsi:type="dcterms:W3CDTF">2026-09-26T19:21:51Z</dcterms:modified>
</cp:coreProperties>
</file>